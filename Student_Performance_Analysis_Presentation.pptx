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Student Academic Performance</a:t>
            </a:r>
          </a:p>
          <a:p>
            <a:r>
              <a:t>Analysis and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Using Data Analytics and Machine Learning</a:t>
            </a:r>
          </a:p>
          <a:p>
            <a:r>
              <a:t>DAV Lab Mini-Project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📊 Objective: Predict student final exam scores using ML regression models</a:t>
            </a:r>
          </a:p>
          <a:p>
            <a:pPr>
              <a:spcAft>
                <a:spcPts val="1200"/>
              </a:spcAft>
              <a:defRPr sz="1800"/>
            </a:pPr>
            <a:r>
              <a:t>🎯 Domain: Educational Data Analytics</a:t>
            </a:r>
          </a:p>
          <a:p>
            <a:pPr>
              <a:spcAft>
                <a:spcPts val="1200"/>
              </a:spcAft>
              <a:defRPr sz="1800"/>
            </a:pPr>
            <a:r>
              <a:t>💡 Approach: Complete data science pipeline from generation to deployment</a:t>
            </a:r>
          </a:p>
          <a:p>
            <a:pPr>
              <a:spcAft>
                <a:spcPts val="1200"/>
              </a:spcAft>
              <a:defRPr sz="1800"/>
            </a:pPr>
            <a:r>
              <a:t>🔧 Tech Stack: Python, Pandas, NumPy, Scikit-learn, Streamlit, Plotly</a:t>
            </a:r>
          </a:p>
          <a:p>
            <a:pPr>
              <a:spcAft>
                <a:spcPts val="1200"/>
              </a:spcAft>
              <a:defRPr sz="1800"/>
            </a:pPr>
            <a:r>
              <a:t>✅ Outcome: Interactive web application with 70.41% prediction accuracy (R²)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📁 Size: 1,200 student records with 16 attributes</a:t>
            </a:r>
          </a:p>
          <a:p>
            <a:pPr>
              <a:spcAft>
                <a:spcPts val="1200"/>
              </a:spcAft>
              <a:defRPr sz="1800"/>
            </a:pPr>
            <a:r>
              <a:t>🔬 Source: Synthetically generated (NumPy, seed=42)</a:t>
            </a:r>
          </a:p>
          <a:p>
            <a:pPr>
              <a:spcAft>
                <a:spcPts val="1200"/>
              </a:spcAft>
              <a:defRPr sz="1800"/>
            </a:pPr>
            <a:r>
              <a:t>📈 Features: 9 numerical + 2 categorical + 1 target variable</a:t>
            </a:r>
          </a:p>
          <a:p>
            <a:pPr>
              <a:spcAft>
                <a:spcPts val="1200"/>
              </a:spcAft>
              <a:defRPr sz="1800"/>
            </a:pPr>
            <a:r>
              <a:t>🎲 Rationale: Ensures originality, reproducibility, controlled quality issues</a:t>
            </a:r>
          </a:p>
          <a:p>
            <a:pPr>
              <a:spcAft>
                <a:spcPts val="1200"/>
              </a:spcAft>
              <a:defRPr sz="1800"/>
            </a:pPr>
            <a:r>
              <a:t>🧪 Quality Issues: 157 missing values, 15 duplicate rows (intentional)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Dataset Features (16 Attributes)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Academic: attendance %, study hours, assignment score, internal exam, lab score</a:t>
            </a:r>
          </a:p>
          <a:p>
            <a:pPr>
              <a:spcAft>
                <a:spcPts val="1200"/>
              </a:spcAft>
              <a:defRPr sz="1800"/>
            </a:pPr>
            <a:r>
              <a:t>Historical: previous semester GPA (0-10 scale)</a:t>
            </a:r>
          </a:p>
          <a:p>
            <a:pPr>
              <a:spcAft>
                <a:spcPts val="1200"/>
              </a:spcAft>
              <a:defRPr sz="1800"/>
            </a:pPr>
            <a:r>
              <a:t>Lifestyle: extracurricular hours, sleep hours, internet usage</a:t>
            </a:r>
          </a:p>
          <a:p>
            <a:pPr>
              <a:spcAft>
                <a:spcPts val="1200"/>
              </a:spcAft>
              <a:defRPr sz="1800"/>
            </a:pPr>
            <a:r>
              <a:t>Demographic: gender, department (CSE/ECE/EEE/MECH/CIVIL/IT), year</a:t>
            </a:r>
          </a:p>
          <a:p>
            <a:pPr>
              <a:spcAft>
                <a:spcPts val="1200"/>
              </a:spcAft>
              <a:defRPr sz="1800"/>
            </a:pPr>
            <a:r>
              <a:t>Target: final_exam_score (0-100) → regression problem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Data Quality Treatment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Missing Values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Treatment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attendance_percentage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Median: 69.55%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study_hours_per_week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Median: 19.75 hrs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assignment_score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Median: 59.00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previous_semester_gpa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Median: 5.96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Duplicate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Removed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 Cleaning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1️⃣ Duplicate Detection: Identified and removed 15 duplicate rows</a:t>
            </a:r>
          </a:p>
          <a:p>
            <a:pPr>
              <a:spcAft>
                <a:spcPts val="1200"/>
              </a:spcAft>
              <a:defRPr sz="1800"/>
            </a:pPr>
            <a:r>
              <a:t>2️⃣ Missing Value Imputation: Median imputation for 4 columns (157 values)</a:t>
            </a:r>
          </a:p>
          <a:p>
            <a:pPr>
              <a:spcAft>
                <a:spcPts val="1200"/>
              </a:spcAft>
              <a:defRPr sz="1800"/>
            </a:pPr>
            <a:r>
              <a:t>3️⃣ Range Validation: Clipped values to valid ranges (attendance 0-100, etc.)</a:t>
            </a:r>
          </a:p>
          <a:p>
            <a:pPr>
              <a:spcAft>
                <a:spcPts val="1200"/>
              </a:spcAft>
              <a:defRPr sz="1800"/>
            </a:pPr>
            <a:r>
              <a:t>4️⃣ Categorical Standardization: Ensured consistent category values</a:t>
            </a:r>
          </a:p>
          <a:p>
            <a:pPr>
              <a:spcAft>
                <a:spcPts val="1200"/>
              </a:spcAft>
              <a:defRPr sz="1800"/>
            </a:pPr>
            <a:r>
              <a:t>✅ Result: Clean dataset of 1,200 records ready for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📊 Visualizations: Histograms, pie charts, scatter plots, box plots, heatmaps</a:t>
            </a:r>
          </a:p>
          <a:p>
            <a:pPr>
              <a:spcAft>
                <a:spcPts val="1200"/>
              </a:spcAft>
              <a:defRPr sz="1800"/>
            </a:pPr>
            <a:r>
              <a:t>🔍 Key Findings:</a:t>
            </a:r>
          </a:p>
          <a:p>
            <a:pPr>
              <a:spcAft>
                <a:spcPts val="1200"/>
              </a:spcAft>
              <a:defRPr sz="1800"/>
            </a:pPr>
            <a:r>
              <a:t>   • Positive correlation: attendance, study hours, assignments → final score</a:t>
            </a:r>
          </a:p>
          <a:p>
            <a:pPr>
              <a:spcAft>
                <a:spcPts val="1200"/>
              </a:spcAft>
              <a:defRPr sz="1800"/>
            </a:pPr>
            <a:r>
              <a:t>   • Previous GPA strongest predictor (weight: 2.5)</a:t>
            </a:r>
          </a:p>
          <a:p>
            <a:pPr>
              <a:spcAft>
                <a:spcPts val="1200"/>
              </a:spcAft>
              <a:defRPr sz="1800"/>
            </a:pPr>
            <a:r>
              <a:t>   • Adequate sleep positively impacts performance</a:t>
            </a:r>
          </a:p>
          <a:p>
            <a:pPr>
              <a:spcAft>
                <a:spcPts val="1200"/>
              </a:spcAft>
              <a:defRPr sz="1800"/>
            </a:pPr>
            <a:r>
              <a:t>   • Excessive internet usage negatively impacts scores</a:t>
            </a:r>
          </a:p>
          <a:p>
            <a:pPr>
              <a:spcAft>
                <a:spcPts val="1200"/>
              </a:spcAft>
              <a:defRPr sz="1800"/>
            </a:pPr>
            <a:r>
              <a:t>📈 Pass Rate: 18.75% scored ≥60 (challenging assessment)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Machine Learning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🤖 Models: Linear Regression vs Random Forest Regressor</a:t>
            </a:r>
          </a:p>
          <a:p>
            <a:pPr>
              <a:spcAft>
                <a:spcPts val="1200"/>
              </a:spcAft>
              <a:defRPr sz="1800"/>
            </a:pPr>
            <a:r>
              <a:t>📊 Train-Test Split: 80% training (960) / 20% testing (240)</a:t>
            </a:r>
          </a:p>
          <a:p>
            <a:pPr>
              <a:spcAft>
                <a:spcPts val="1200"/>
              </a:spcAft>
              <a:defRPr sz="1800"/>
            </a:pPr>
            <a:r>
              <a:t>🎲 Random State: 42 (reproducibility)</a:t>
            </a:r>
          </a:p>
          <a:p>
            <a:pPr>
              <a:spcAft>
                <a:spcPts val="1200"/>
              </a:spcAft>
              <a:defRPr sz="1800"/>
            </a:pPr>
            <a:r>
              <a:t>🔢 Features: 11 (9 numerical + 2 encoded categorical)</a:t>
            </a:r>
          </a:p>
          <a:p>
            <a:pPr>
              <a:spcAft>
                <a:spcPts val="1200"/>
              </a:spcAft>
              <a:defRPr sz="1800"/>
            </a:pPr>
            <a:r>
              <a:t>🎯 Target: final_exam_score (continuous variable)</a:t>
            </a:r>
          </a:p>
          <a:p>
            <a:pPr>
              <a:spcAft>
                <a:spcPts val="1200"/>
              </a:spcAft>
              <a:defRPr sz="1800"/>
            </a:pPr>
            <a:r>
              <a:t>📏 Evaluation: MAE, RMSE, R²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Model Performance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1219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R² Score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Linear Regression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4.2269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5.3535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0.7041</a:t>
                      </a:r>
                    </a:p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4.8110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6.0471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0.6225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Best Model: Linear Regression 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📊 R² = 0.7041 → Explains 70.41% of variance in final exam scores</a:t>
            </a:r>
          </a:p>
          <a:p>
            <a:pPr>
              <a:spcAft>
                <a:spcPts val="1200"/>
              </a:spcAft>
              <a:defRPr sz="1800"/>
            </a:pPr>
            <a:r>
              <a:t>📏 MAE = 4.23 points → Average prediction error on 0-100 scale</a:t>
            </a:r>
          </a:p>
          <a:p>
            <a:pPr>
              <a:spcAft>
                <a:spcPts val="1200"/>
              </a:spcAft>
              <a:defRPr sz="1800"/>
            </a:pPr>
            <a:r>
              <a:t>📐 RMSE = 5.35 points → Typical deviation from actual scores</a:t>
            </a:r>
          </a:p>
          <a:p>
            <a:pPr>
              <a:spcAft>
                <a:spcPts val="1200"/>
              </a:spcAft>
              <a:defRPr sz="1800"/>
            </a:pPr>
            <a:r>
              <a:t>💡 Why Linear Regression Won:</a:t>
            </a:r>
          </a:p>
          <a:p>
            <a:pPr>
              <a:spcAft>
                <a:spcPts val="1200"/>
              </a:spcAft>
              <a:defRPr sz="1800"/>
            </a:pPr>
            <a:r>
              <a:t>   • Data generated with weighted linear relationships + Gaussian noise</a:t>
            </a:r>
          </a:p>
          <a:p>
            <a:pPr>
              <a:spcAft>
                <a:spcPts val="1200"/>
              </a:spcAft>
              <a:defRPr sz="1800"/>
            </a:pPr>
            <a:r>
              <a:t>   • Academic features have proportional relationships with outcomes</a:t>
            </a:r>
          </a:p>
          <a:p>
            <a:pPr>
              <a:spcAft>
                <a:spcPts val="1200"/>
              </a:spcAft>
              <a:defRPr sz="1800"/>
            </a:pPr>
            <a:r>
              <a:t>   • Simpler model, more interpretable for educational context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Feature Importance (Weights)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1️⃣ Previous Semester GPA: 2.5 (strongest predictor)</a:t>
            </a:r>
          </a:p>
          <a:p>
            <a:pPr>
              <a:spcAft>
                <a:spcPts val="1200"/>
              </a:spcAft>
              <a:defRPr sz="1800"/>
            </a:pPr>
            <a:r>
              <a:t>2️⃣ Internal Exam Score: 0.18</a:t>
            </a:r>
          </a:p>
          <a:p>
            <a:pPr>
              <a:spcAft>
                <a:spcPts val="1200"/>
              </a:spcAft>
              <a:defRPr sz="1800"/>
            </a:pPr>
            <a:r>
              <a:t>3️⃣ Study Hours per Week: 0.15</a:t>
            </a:r>
          </a:p>
          <a:p>
            <a:pPr>
              <a:spcAft>
                <a:spcPts val="1200"/>
              </a:spcAft>
              <a:defRPr sz="1800"/>
            </a:pPr>
            <a:r>
              <a:t>4️⃣ Assignment Score: 0.15</a:t>
            </a:r>
          </a:p>
          <a:p>
            <a:pPr>
              <a:spcAft>
                <a:spcPts val="1200"/>
              </a:spcAft>
              <a:defRPr sz="1800"/>
            </a:pPr>
            <a:r>
              <a:t>5️⃣ Attendance Percentage: 0.12</a:t>
            </a:r>
          </a:p>
          <a:p>
            <a:pPr>
              <a:spcAft>
                <a:spcPts val="1200"/>
              </a:spcAft>
              <a:defRPr sz="1800"/>
            </a:pPr>
            <a:r>
              <a:t>6️⃣ Lab Score: 0.10</a:t>
            </a:r>
          </a:p>
          <a:p>
            <a:pPr>
              <a:spcAft>
                <a:spcPts val="1200"/>
              </a:spcAft>
              <a:defRPr sz="1800"/>
            </a:pPr>
            <a:r>
              <a:t>➕ Positive: Sleep hours | ➖ Negative: Internet usage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Interactive Web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🌐 Framework: Streamlit (Python web framework)</a:t>
            </a:r>
          </a:p>
          <a:p>
            <a:pPr>
              <a:spcAft>
                <a:spcPts val="1200"/>
              </a:spcAft>
              <a:defRPr sz="1800"/>
            </a:pPr>
            <a:r>
              <a:t>🔐 Authentication: Session-based demo login</a:t>
            </a:r>
          </a:p>
          <a:p>
            <a:pPr>
              <a:spcAft>
                <a:spcPts val="1200"/>
              </a:spcAft>
              <a:defRPr sz="1800"/>
            </a:pPr>
            <a:r>
              <a:t>📄 5 Pages:</a:t>
            </a:r>
          </a:p>
          <a:p>
            <a:pPr>
              <a:spcAft>
                <a:spcPts val="1200"/>
              </a:spcAft>
              <a:defRPr sz="1800"/>
            </a:pPr>
            <a:r>
              <a:t>   1. Overview Dashboard (KPIs, charts, dataset preview)</a:t>
            </a:r>
          </a:p>
          <a:p>
            <a:pPr>
              <a:spcAft>
                <a:spcPts val="1200"/>
              </a:spcAft>
              <a:defRPr sz="1800"/>
            </a:pPr>
            <a:r>
              <a:t>   2. Dataset &amp; Cleaning (workflow, comparison, reports)</a:t>
            </a:r>
          </a:p>
          <a:p>
            <a:pPr>
              <a:spcAft>
                <a:spcPts val="1200"/>
              </a:spcAft>
              <a:defRPr sz="1800"/>
            </a:pPr>
            <a:r>
              <a:t>   3. Exploratory Analysis (filters, scatter, box plots, heatmap)</a:t>
            </a:r>
          </a:p>
          <a:p>
            <a:pPr>
              <a:spcAft>
                <a:spcPts val="1200"/>
              </a:spcAft>
              <a:defRPr sz="1800"/>
            </a:pPr>
            <a:r>
              <a:t>   4. Model Comparison (metrics, performance chart)</a:t>
            </a:r>
          </a:p>
          <a:p>
            <a:pPr>
              <a:spcAft>
                <a:spcPts val="1200"/>
              </a:spcAft>
              <a:defRPr sz="1800"/>
            </a:pPr>
            <a:r>
              <a:t>   5. Predict Performance (11-input form, real-time prediction)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Technologies &amp;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🐍 Python 3.13.7 (base language)</a:t>
            </a:r>
          </a:p>
          <a:p>
            <a:pPr>
              <a:spcAft>
                <a:spcPts val="1200"/>
              </a:spcAft>
              <a:defRPr sz="1800"/>
            </a:pPr>
            <a:r>
              <a:t>🔢 NumPy 2.2.5 (numerical arrays, random generation)</a:t>
            </a:r>
          </a:p>
          <a:p>
            <a:pPr>
              <a:spcAft>
                <a:spcPts val="1200"/>
              </a:spcAft>
              <a:defRPr sz="1800"/>
            </a:pPr>
            <a:r>
              <a:t>📊 Pandas 3.0.6 (data manipulation, CSV handling)</a:t>
            </a:r>
          </a:p>
          <a:p>
            <a:pPr>
              <a:spcAft>
                <a:spcPts val="1200"/>
              </a:spcAft>
              <a:defRPr sz="1800"/>
            </a:pPr>
            <a:r>
              <a:t>📈 Matplotlib 3.11.2 + Seaborn 0.13.2 (static visualizations)</a:t>
            </a:r>
          </a:p>
          <a:p>
            <a:pPr>
              <a:spcAft>
                <a:spcPts val="1200"/>
              </a:spcAft>
              <a:defRPr sz="1800"/>
            </a:pPr>
            <a:r>
              <a:t>📉 Plotly 6.1.2 (interactive charts)</a:t>
            </a:r>
          </a:p>
          <a:p>
            <a:pPr>
              <a:spcAft>
                <a:spcPts val="1200"/>
              </a:spcAft>
              <a:defRPr sz="1800"/>
            </a:pPr>
            <a:r>
              <a:t>🤖 Scikit-learn 1.9.1 (ML models, preprocessing, metrics)</a:t>
            </a:r>
          </a:p>
          <a:p>
            <a:pPr>
              <a:spcAft>
                <a:spcPts val="1200"/>
              </a:spcAft>
              <a:defRPr sz="1800"/>
            </a:pPr>
            <a:r>
              <a:t>🌐 Streamlit 1.65.0 (web application deployment)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📁 src/ → 4 Python modules (generation, cleaning, visualization, training)</a:t>
            </a:r>
          </a:p>
          <a:p>
            <a:pPr>
              <a:spcAft>
                <a:spcPts val="1200"/>
              </a:spcAft>
              <a:defRPr sz="1800"/>
            </a:pPr>
            <a:r>
              <a:t>📁 data/ → Raw + cleaned CSV files (1,215 → 1,200 records)</a:t>
            </a:r>
          </a:p>
          <a:p>
            <a:pPr>
              <a:spcAft>
                <a:spcPts val="1200"/>
              </a:spcAft>
              <a:defRPr sz="1800"/>
            </a:pPr>
            <a:r>
              <a:t>📁 models/ → 4 trained model artifacts (.pkl files)</a:t>
            </a:r>
          </a:p>
          <a:p>
            <a:pPr>
              <a:spcAft>
                <a:spcPts val="1200"/>
              </a:spcAft>
              <a:defRPr sz="1800"/>
            </a:pPr>
            <a:r>
              <a:t>📁 reports/ → Academic report, results summary, viva notes</a:t>
            </a:r>
          </a:p>
          <a:p>
            <a:pPr>
              <a:spcAft>
                <a:spcPts val="1200"/>
              </a:spcAft>
              <a:defRPr sz="1800"/>
            </a:pPr>
            <a:r>
              <a:t>📄 app.py → Main Streamlit application (450+ lines)</a:t>
            </a:r>
          </a:p>
          <a:p>
            <a:pPr>
              <a:spcAft>
                <a:spcPts val="1200"/>
              </a:spcAft>
              <a:defRPr sz="1800"/>
            </a:pPr>
            <a:r>
              <a:t>📋 requirements.txt → 58 pinned dependencies</a:t>
            </a:r>
          </a:p>
          <a:p>
            <a:pPr>
              <a:spcAft>
                <a:spcPts val="1200"/>
              </a:spcAft>
              <a:defRPr sz="1800"/>
            </a:pPr>
            <a:r>
              <a:t>📖 README.md + QUICK_START.md → Complete documentation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✅ Dataset: 1,200 cleaned records from 1,215 raw records</a:t>
            </a:r>
          </a:p>
          <a:p>
            <a:pPr>
              <a:spcAft>
                <a:spcPts val="1200"/>
              </a:spcAft>
              <a:defRPr sz="1800"/>
            </a:pPr>
            <a:r>
              <a:t>✅ Data Quality: 157 missing values imputed, 15 duplicates removed</a:t>
            </a:r>
          </a:p>
          <a:p>
            <a:pPr>
              <a:spcAft>
                <a:spcPts val="1200"/>
              </a:spcAft>
              <a:defRPr sz="1800"/>
            </a:pPr>
            <a:r>
              <a:t>✅ Best Model: Linear Regression (R² = 0.7041, MAE = 4.23)</a:t>
            </a:r>
          </a:p>
          <a:p>
            <a:pPr>
              <a:spcAft>
                <a:spcPts val="1200"/>
              </a:spcAft>
              <a:defRPr sz="1800"/>
            </a:pPr>
            <a:r>
              <a:t>✅ Prediction Accuracy: ~4 points average error on 0-100 scale</a:t>
            </a:r>
          </a:p>
          <a:p>
            <a:pPr>
              <a:spcAft>
                <a:spcPts val="1200"/>
              </a:spcAft>
              <a:defRPr sz="1800"/>
            </a:pPr>
            <a:r>
              <a:t>✅ Web App: Fully functional 5-page interactive dashboard</a:t>
            </a:r>
          </a:p>
          <a:p>
            <a:pPr>
              <a:spcAft>
                <a:spcPts val="1200"/>
              </a:spcAft>
              <a:defRPr sz="1800"/>
            </a:pPr>
            <a:r>
              <a:t>✅ Documentation: 23-section report + viva preparation guide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Project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🔬 Synthetic Data: Not real students; simplified relationships</a:t>
            </a:r>
          </a:p>
          <a:p>
            <a:pPr>
              <a:spcAft>
                <a:spcPts val="1200"/>
              </a:spcAft>
              <a:defRPr sz="1800"/>
            </a:pPr>
            <a:r>
              <a:t>📊 Limited Features: Only 11 predictors; missing many real-world factors</a:t>
            </a:r>
          </a:p>
          <a:p>
            <a:pPr>
              <a:spcAft>
                <a:spcPts val="1200"/>
              </a:spcAft>
              <a:defRPr sz="1800"/>
            </a:pPr>
            <a:r>
              <a:t>   (family background, mental health, teaching quality, motivation)</a:t>
            </a:r>
          </a:p>
          <a:p>
            <a:pPr>
              <a:spcAft>
                <a:spcPts val="1200"/>
              </a:spcAft>
              <a:defRPr sz="1800"/>
            </a:pPr>
            <a:r>
              <a:t>⚠️ Linear Assumptions: Real relationships may be more complex</a:t>
            </a:r>
          </a:p>
          <a:p>
            <a:pPr>
              <a:spcAft>
                <a:spcPts val="1200"/>
              </a:spcAft>
              <a:defRPr sz="1800"/>
            </a:pPr>
            <a:r>
              <a:t>⏰ No Temporal Modeling: Doesn't track improvement over semesters</a:t>
            </a:r>
          </a:p>
          <a:p>
            <a:pPr>
              <a:spcAft>
                <a:spcPts val="1200"/>
              </a:spcAft>
              <a:defRPr sz="1800"/>
            </a:pPr>
            <a:r>
              <a:t>🔐 Demo Authentication: Session-based, not production-grade security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📊 Real Data: Partner with institution for anonymized historical data</a:t>
            </a:r>
          </a:p>
          <a:p>
            <a:pPr>
              <a:spcAft>
                <a:spcPts val="1200"/>
              </a:spcAft>
              <a:defRPr sz="1800"/>
            </a:pPr>
            <a:r>
              <a:t>🧠 Advanced Models: XGBoost, neural networks, ensemble methods</a:t>
            </a:r>
          </a:p>
          <a:p>
            <a:pPr>
              <a:spcAft>
                <a:spcPts val="1200"/>
              </a:spcAft>
              <a:defRPr sz="1800"/>
            </a:pPr>
            <a:r>
              <a:t>📈 More Features: Socioeconomic, psychological, teaching evaluations</a:t>
            </a:r>
          </a:p>
          <a:p>
            <a:pPr>
              <a:spcAft>
                <a:spcPts val="1200"/>
              </a:spcAft>
              <a:defRPr sz="1800"/>
            </a:pPr>
            <a:r>
              <a:t>⏱️ Time-Series Analysis: Track performance changes across semesters</a:t>
            </a:r>
          </a:p>
          <a:p>
            <a:pPr>
              <a:spcAft>
                <a:spcPts val="1200"/>
              </a:spcAft>
              <a:defRPr sz="1800"/>
            </a:pPr>
            <a:r>
              <a:t>☁️ Cloud Deployment: Streamlit Cloud, AWS for broader access</a:t>
            </a:r>
          </a:p>
          <a:p>
            <a:pPr>
              <a:spcAft>
                <a:spcPts val="1200"/>
              </a:spcAft>
              <a:defRPr sz="1800"/>
            </a:pPr>
            <a:r>
              <a:t>🧪 A/B Testing: Evaluate intervention effectiveness</a:t>
            </a:r>
          </a:p>
          <a:p>
            <a:pPr>
              <a:spcAft>
                <a:spcPts val="1200"/>
              </a:spcAft>
              <a:defRPr sz="1800"/>
            </a:pPr>
            <a:r>
              <a:t>🔍 Causal Inference: Understand WHY features matter (not just correlation)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We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✅ End-to-end data science pipeline: generation → deployment</a:t>
            </a:r>
          </a:p>
          <a:p>
            <a:pPr>
              <a:spcAft>
                <a:spcPts val="1200"/>
              </a:spcAft>
              <a:defRPr sz="1800"/>
            </a:pPr>
            <a:r>
              <a:t>✅ Data quality is crucial: proper handling of missing values matters</a:t>
            </a:r>
          </a:p>
          <a:p>
            <a:pPr>
              <a:spcAft>
                <a:spcPts val="1200"/>
              </a:spcAft>
              <a:defRPr sz="1800"/>
            </a:pPr>
            <a:r>
              <a:t>✅ Model selection: simpler models can outperform complex ones</a:t>
            </a:r>
          </a:p>
          <a:p>
            <a:pPr>
              <a:spcAft>
                <a:spcPts val="1200"/>
              </a:spcAft>
              <a:defRPr sz="1800"/>
            </a:pPr>
            <a:r>
              <a:t>✅ Evaluation rigor: multiple metrics provide fuller picture</a:t>
            </a:r>
          </a:p>
          <a:p>
            <a:pPr>
              <a:spcAft>
                <a:spcPts val="1200"/>
              </a:spcAft>
              <a:defRPr sz="1800"/>
            </a:pPr>
            <a:r>
              <a:t>✅ Reproducibility: fixed seeds + version control ensure consistency</a:t>
            </a:r>
          </a:p>
          <a:p>
            <a:pPr>
              <a:spcAft>
                <a:spcPts val="1200"/>
              </a:spcAft>
              <a:defRPr sz="1800"/>
            </a:pPr>
            <a:r>
              <a:t>✅ Documentation: clear README and reports make projects accessible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DAV Lab Concepts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📊 Data Analytics: NumPy arrays, Pandas DataFrames, statistical analysis</a:t>
            </a:r>
          </a:p>
          <a:p>
            <a:pPr>
              <a:spcAft>
                <a:spcPts val="1200"/>
              </a:spcAft>
              <a:defRPr sz="1800"/>
            </a:pPr>
            <a:r>
              <a:t>🧹 Data Wrangling: Missing value imputation, duplicate removal, validation</a:t>
            </a:r>
          </a:p>
          <a:p>
            <a:pPr>
              <a:spcAft>
                <a:spcPts val="1200"/>
              </a:spcAft>
              <a:defRPr sz="1800"/>
            </a:pPr>
            <a:r>
              <a:t>📈 Data Visualization: Matplotlib, Seaborn, Plotly (static + interactive)</a:t>
            </a:r>
          </a:p>
          <a:p>
            <a:pPr>
              <a:spcAft>
                <a:spcPts val="1200"/>
              </a:spcAft>
              <a:defRPr sz="1800"/>
            </a:pPr>
            <a:r>
              <a:t>🔍 Exploratory Data Analysis: Correlation, distribution, trends</a:t>
            </a:r>
          </a:p>
          <a:p>
            <a:pPr>
              <a:spcAft>
                <a:spcPts val="1200"/>
              </a:spcAft>
              <a:defRPr sz="1800"/>
            </a:pPr>
            <a:r>
              <a:t>🤖 Machine Learning: Supervised regression, train-test split, evaluation</a:t>
            </a:r>
          </a:p>
          <a:p>
            <a:pPr>
              <a:spcAft>
                <a:spcPts val="1200"/>
              </a:spcAft>
              <a:defRPr sz="1800"/>
            </a:pPr>
            <a:r>
              <a:t>🌐 Deployment: Web application with Streamlit framework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How to Run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Step 1: Navigate to project directory</a:t>
            </a:r>
          </a:p>
          <a:p>
            <a:pPr>
              <a:spcAft>
                <a:spcPts val="800"/>
              </a:spcAft>
              <a:defRPr sz="1100">
                <a:solidFill>
                  <a:srgbClr val="006400"/>
                </a:solidFill>
                <a:latin typeface="Courier New"/>
              </a:defRPr>
            </a:pPr>
            <a:r>
              <a:t>cd "C:\Users\MD.Mudassir Raza\student-academic-performance"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Step 2: Activate virtual environment</a:t>
            </a:r>
          </a:p>
          <a:p>
            <a:pPr>
              <a:spcAft>
                <a:spcPts val="800"/>
              </a:spcAft>
              <a:defRPr sz="1100">
                <a:solidFill>
                  <a:srgbClr val="006400"/>
                </a:solidFill>
                <a:latin typeface="Courier New"/>
              </a:defRPr>
            </a:pPr>
            <a:r>
              <a:t>.\venv\Scripts\Activate.ps1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Step 3: Run Streamlit application</a:t>
            </a:r>
          </a:p>
          <a:p>
            <a:pPr>
              <a:spcAft>
                <a:spcPts val="800"/>
              </a:spcAft>
              <a:defRPr sz="1100">
                <a:solidFill>
                  <a:srgbClr val="006400"/>
                </a:solidFill>
                <a:latin typeface="Courier New"/>
              </a:defRPr>
            </a:pPr>
            <a:r>
              <a:t>streamlit run app.py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Step 4: Open browser at http://localhost:8501</a:t>
            </a:r>
          </a:p>
          <a:p>
            <a:pPr>
              <a:spcAft>
                <a:spcPts val="800"/>
              </a:spcAft>
              <a:defRPr sz="1400"/>
            </a:pPr>
            <a:r>
              <a:t>Login: demo@student.edu / demo123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✅ Successfully built complete data science project from scratch</a:t>
            </a:r>
          </a:p>
          <a:p>
            <a:pPr>
              <a:spcAft>
                <a:spcPts val="1200"/>
              </a:spcAft>
              <a:defRPr sz="1800"/>
            </a:pPr>
            <a:r>
              <a:t>✅ Demonstrated full pipeline: data → cleaning → EDA → ML → deployment</a:t>
            </a:r>
          </a:p>
          <a:p>
            <a:pPr>
              <a:spcAft>
                <a:spcPts val="1200"/>
              </a:spcAft>
              <a:defRPr sz="1800"/>
            </a:pPr>
            <a:r>
              <a:t>✅ Achieved 70.41% variance explanation (Linear Regression)</a:t>
            </a:r>
          </a:p>
          <a:p>
            <a:pPr>
              <a:spcAft>
                <a:spcPts val="1200"/>
              </a:spcAft>
              <a:defRPr sz="1800"/>
            </a:pPr>
            <a:r>
              <a:t>✅ Delivered professional web application with 5 interactive pages</a:t>
            </a:r>
          </a:p>
          <a:p>
            <a:pPr>
              <a:spcAft>
                <a:spcPts val="1200"/>
              </a:spcAft>
              <a:defRPr sz="1800"/>
            </a:pPr>
            <a:r>
              <a:t>✅ Comprehensive documentation: report, results, viva preparation</a:t>
            </a:r>
          </a:p>
          <a:p>
            <a:pPr>
              <a:spcAft>
                <a:spcPts val="1200"/>
              </a:spcAft>
              <a:defRPr sz="1800"/>
            </a:pPr>
            <a:r>
              <a:t>🎓 Project Status: COMPLETE, TESTED, AND READY FOR SUBMISSION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Thank You!</a:t>
            </a:r>
          </a:p>
          <a:p/>
          <a:p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Student Academic Performance Analysis &amp; Prediction</a:t>
            </a:r>
          </a:p>
          <a:p>
            <a:r>
              <a:t>DAV Lab Mini-Project |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